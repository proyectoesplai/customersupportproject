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YfBGlaj9HlGl3eDz/Q+WJKpPu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Presenta: Gracia. Tiempo: 30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Abrir con una frase sencilla: hemos construido un soporte que sabe responder, pero también sabe cuándo debe escalar.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Presentar al equipo por nombre y anticipar que todos explicarán la parte que han trabajado.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Tiempo total: 45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Cada persona se presenta en una frase y dice su responsabilidad principal.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Gracia: diseño de comportamiento y criterios funcionales.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Juan: implementación del grafo, API y RAG.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Jesús: ejecución local, Docker e integración en el Compose común.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Presenta: Gracia. Tiempo: 1 minuto.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Explicar que el prompting no busca hacer el modelo más creativo, sino más obediente a la documentación.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Las marcas ESCALAR_N2 y ESCALAR_HUMANO son internas y nunca se enseñan al cliente.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 confirmación del usuario convierte la respuesta en un flujo: si no funciona, el sistema baja al siguiente nivel.</a:t>
            </a:r>
            <a:endParaRPr/>
          </a:p>
        </p:txBody>
      </p:sp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Presenta: Juan. Tiempo: 1 minuto y 10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Explicar el stack de izquierda a derecha como una cadena de responsabilidades.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Streamlit solo contiene la interfaz; FastAPI expone la lógica; LangGraph decide el recorrido.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LangChain y ChromaDB implementan el RAG; Ollama ejecuta Gemma 3 4B y embeddings de forma local.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Docker permite repetir el despliegue y unir el proyecto al Compose de la clase.</a:t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Presenta: Juan. Tiempo: 1 minuto y 20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Recorrer el grafo de izquierda a derecha.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El clasificador inicial separa conversación cordial, consultas del router y escalados solicitados.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N1 consulta exclusivamente el PDF de preguntas frecuentes.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Si N1 no tiene evidencia o el usuario indica que no se resolvió, pasa a N2.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N2 consulta exclusivamente el manual. Si tampoco puede responder, deriva a atención humana.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LangGraph conserva el estado y hace explícitas todas las rutas.</a:t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Tiempo total: 1 minuto y 20 segundos. Jesús introduce la diapositiva.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Gracia explica el riesgo de alucinación y la respuesta basada en prompting y escalado.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Juan explica por qué se añadió el Nivel 0 para saludos y temas ajenos.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Jesús explica la portabilidad y Docker.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Uno de los tres cierra con la simplificación de la interfaz para no mostrar información interna.</a:t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Tiempo de demo: unos 2 minutos.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Gracia escribe «Hola» y después la pregunta del QR.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Tras la respuesta de N1, puede pulsar «No se solucionó la pregunta» para enseñar el cambio de nivel si se desea.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Juan realiza una consulta técnica de configuración para mostrar N2.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Jesús formula una consulta sin evidencia y enseña el mensaje de derivación humana.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Al final, abrir «Ver detalle de la atención» para enseñar el recorrido sin exponerlo permanentemente al cliente.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Plan B si falla Ollama: explicar la misma secuencia con esta diapositiva y mostrar el healthcheck o los contenedores.</a:t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Tiempo: 30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Cada persona dice una frase breve: Gracia sobre la experiencia, Juan sobre el control del grafo y Jesús sobre el despliegue.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Cerrar con: «El sistema responde con documentación y escala cuando debe; esa es la idea central del proyecto».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Dar paso a preguntas.</a:t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09600" y="495300"/>
            <a:ext cx="2381250" cy="342900"/>
          </a:xfrm>
          <a:prstGeom prst="roundRect">
            <a:avLst>
              <a:gd fmla="val 50000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PROYECTO DE IA CON AGENTES</a:t>
            </a:r>
            <a:endParaRPr sz="1500"/>
          </a:p>
        </p:txBody>
      </p:sp>
      <p:sp>
        <p:nvSpPr>
          <p:cNvPr id="17" name="Google Shape;17;p1"/>
          <p:cNvSpPr/>
          <p:nvPr/>
        </p:nvSpPr>
        <p:spPr>
          <a:xfrm>
            <a:off x="609600" y="1200150"/>
            <a:ext cx="61912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Soporte inteligente para el Router Smart WiFi 6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09600" y="3143250"/>
            <a:ext cx="58102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Sistema multiagente con RAG local, escalado seguro y una interfaz pensada para el cliente.</a:t>
            </a:r>
            <a:endParaRPr/>
          </a:p>
        </p:txBody>
      </p:sp>
      <p:cxnSp>
        <p:nvCxnSpPr>
          <p:cNvPr id="19" name="Google Shape;19;p1"/>
          <p:cNvCxnSpPr/>
          <p:nvPr/>
        </p:nvCxnSpPr>
        <p:spPr>
          <a:xfrm>
            <a:off x="609600" y="4514850"/>
            <a:ext cx="5810250" cy="0"/>
          </a:xfrm>
          <a:prstGeom prst="straightConnector1">
            <a:avLst/>
          </a:prstGeom>
          <a:noFill/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609600" y="4762500"/>
            <a:ext cx="48294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150" lIns="136325" spcFirstLastPara="1" rIns="136325" wrap="square" tIns="68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Gracia · prompting y funcional</a:t>
            </a:r>
            <a:endParaRPr sz="2088"/>
          </a:p>
        </p:txBody>
      </p:sp>
      <p:sp>
        <p:nvSpPr>
          <p:cNvPr id="21" name="Google Shape;21;p1"/>
          <p:cNvSpPr/>
          <p:nvPr/>
        </p:nvSpPr>
        <p:spPr>
          <a:xfrm>
            <a:off x="609600" y="5330658"/>
            <a:ext cx="48294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150" lIns="136325" spcFirstLastPara="1" rIns="136325" wrap="square" tIns="68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2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Jesús · sistemas y despliegue</a:t>
            </a:r>
            <a:endParaRPr sz="2088"/>
          </a:p>
        </p:txBody>
      </p:sp>
      <p:sp>
        <p:nvSpPr>
          <p:cNvPr id="22" name="Google Shape;22;p1"/>
          <p:cNvSpPr/>
          <p:nvPr/>
        </p:nvSpPr>
        <p:spPr>
          <a:xfrm>
            <a:off x="609600" y="5898816"/>
            <a:ext cx="51135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150" lIns="136325" spcFirstLastPara="1" rIns="136325" wrap="square" tIns="68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2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Juan · desarrollador principal</a:t>
            </a:r>
            <a:endParaRPr sz="2088"/>
          </a:p>
        </p:txBody>
      </p:sp>
      <p:sp>
        <p:nvSpPr>
          <p:cNvPr id="23" name="Google Shape;23;p1"/>
          <p:cNvSpPr/>
          <p:nvPr/>
        </p:nvSpPr>
        <p:spPr>
          <a:xfrm>
            <a:off x="11087100" y="638175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pic>
        <p:nvPicPr>
          <p:cNvPr id="24" name="Google Shape;2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3900" y="1126775"/>
            <a:ext cx="5086351" cy="3388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sz="1800"/>
          </a:p>
        </p:txBody>
      </p:sp>
      <p:sp>
        <p:nvSpPr>
          <p:cNvPr id="31" name="Google Shape;31;p2"/>
          <p:cNvSpPr/>
          <p:nvPr/>
        </p:nvSpPr>
        <p:spPr>
          <a:xfrm>
            <a:off x="609600" y="685800"/>
            <a:ext cx="103346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 equipo, tres responsabilidades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09600" y="13144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rol cubre una capa distinta del producto y todos participan en la demo.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1096625" y="304800"/>
            <a:ext cx="495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cxnSp>
        <p:nvCxnSpPr>
          <p:cNvPr id="34" name="Google Shape;34;p2"/>
          <p:cNvCxnSpPr/>
          <p:nvPr/>
        </p:nvCxnSpPr>
        <p:spPr>
          <a:xfrm>
            <a:off x="609600" y="18478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2"/>
          <p:cNvSpPr/>
          <p:nvPr/>
        </p:nvSpPr>
        <p:spPr>
          <a:xfrm>
            <a:off x="609600" y="2209800"/>
            <a:ext cx="3276600" cy="3524250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09600" y="2209800"/>
            <a:ext cx="3276600" cy="114300"/>
          </a:xfrm>
          <a:prstGeom prst="rect">
            <a:avLst/>
          </a:prstGeom>
          <a:solidFill>
            <a:srgbClr val="0F766E"/>
          </a:solidFill>
          <a:ln cap="flat" cmpd="sng" w="95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76300" y="25527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Gracia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6300" y="3105150"/>
            <a:ext cx="2381400" cy="342900"/>
          </a:xfrm>
          <a:prstGeom prst="roundRect">
            <a:avLst>
              <a:gd fmla="val 50000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Prompting y funcional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95350" y="3810000"/>
            <a:ext cx="95250" cy="95250"/>
          </a:xfrm>
          <a:prstGeom prst="ellipse">
            <a:avLst/>
          </a:prstGeom>
          <a:solidFill>
            <a:srgbClr val="0F766E"/>
          </a:solidFill>
          <a:ln cap="flat" cmpd="sng" w="95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123950" y="3733800"/>
            <a:ext cx="2495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Reglas de conversación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95350" y="4400550"/>
            <a:ext cx="95250" cy="95250"/>
          </a:xfrm>
          <a:prstGeom prst="ellipse">
            <a:avLst/>
          </a:prstGeom>
          <a:solidFill>
            <a:srgbClr val="0F766E"/>
          </a:solidFill>
          <a:ln cap="flat" cmpd="sng" w="95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123950" y="4324350"/>
            <a:ext cx="2495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Criterios de escalado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95350" y="4991100"/>
            <a:ext cx="95250" cy="95250"/>
          </a:xfrm>
          <a:prstGeom prst="ellipse">
            <a:avLst/>
          </a:prstGeom>
          <a:solidFill>
            <a:srgbClr val="0F766E"/>
          </a:solidFill>
          <a:ln cap="flat" cmpd="sng" w="95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123950" y="4914900"/>
            <a:ext cx="2495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Experiencia del cliente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305300" y="2209800"/>
            <a:ext cx="3276600" cy="3524250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305300" y="2209800"/>
            <a:ext cx="3276600" cy="1143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572000" y="25527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Juan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72000" y="3105150"/>
            <a:ext cx="2381250" cy="342900"/>
          </a:xfrm>
          <a:prstGeom prst="roundRect">
            <a:avLst>
              <a:gd fmla="val 50000" name="adj"/>
            </a:avLst>
          </a:prstGeom>
          <a:solidFill>
            <a:srgbClr val="E7EEFF"/>
          </a:solidFill>
          <a:ln cap="flat" cmpd="sng" w="9525">
            <a:solidFill>
              <a:srgbClr val="E7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Desarrollador principal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591050" y="3810000"/>
            <a:ext cx="95250" cy="95250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19650" y="3733800"/>
            <a:ext cx="2495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Grafo LangGraph</a:t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591050" y="4400550"/>
            <a:ext cx="95250" cy="95250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19650" y="4324350"/>
            <a:ext cx="2495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API y lógica RAG</a:t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591050" y="4991100"/>
            <a:ext cx="95250" cy="95250"/>
          </a:xfrm>
          <a:prstGeom prst="ellipse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819650" y="4914900"/>
            <a:ext cx="2495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Integración del sistema</a:t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001000" y="2209800"/>
            <a:ext cx="3276600" cy="3524250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001000" y="2209800"/>
            <a:ext cx="3276600" cy="114300"/>
          </a:xfrm>
          <a:prstGeom prst="rect">
            <a:avLst/>
          </a:prstGeom>
          <a:solidFill>
            <a:srgbClr val="E8871E"/>
          </a:solidFill>
          <a:ln cap="flat" cmpd="sng" w="9525">
            <a:solidFill>
              <a:srgbClr val="E88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267700" y="25527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Jesús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267700" y="3105150"/>
            <a:ext cx="2381250" cy="342900"/>
          </a:xfrm>
          <a:prstGeom prst="roundRect">
            <a:avLst>
              <a:gd fmla="val 50000" name="adj"/>
            </a:avLst>
          </a:prstGeom>
          <a:solidFill>
            <a:srgbClr val="FFF0DA"/>
          </a:solidFill>
          <a:ln cap="flat" cmpd="sng" w="9525">
            <a:solidFill>
              <a:srgbClr val="FFF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Sistemas y despliegue</a:t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8286750" y="3810000"/>
            <a:ext cx="95250" cy="95250"/>
          </a:xfrm>
          <a:prstGeom prst="ellipse">
            <a:avLst/>
          </a:prstGeom>
          <a:solidFill>
            <a:srgbClr val="E8871E"/>
          </a:solidFill>
          <a:ln cap="flat" cmpd="sng" w="9525">
            <a:solidFill>
              <a:srgbClr val="E88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515350" y="3733800"/>
            <a:ext cx="2495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Ollama y modelos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286750" y="4400550"/>
            <a:ext cx="95250" cy="95250"/>
          </a:xfrm>
          <a:prstGeom prst="ellipse">
            <a:avLst/>
          </a:prstGeom>
          <a:solidFill>
            <a:srgbClr val="E8871E"/>
          </a:solidFill>
          <a:ln cap="flat" cmpd="sng" w="9525">
            <a:solidFill>
              <a:srgbClr val="E88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515350" y="4324350"/>
            <a:ext cx="2495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Docker Compose</a:t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286750" y="4991100"/>
            <a:ext cx="95250" cy="95250"/>
          </a:xfrm>
          <a:prstGeom prst="ellipse">
            <a:avLst/>
          </a:prstGeom>
          <a:solidFill>
            <a:srgbClr val="E8871E"/>
          </a:solidFill>
          <a:ln cap="flat" cmpd="sng" w="9525">
            <a:solidFill>
              <a:srgbClr val="E88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515350" y="4914900"/>
            <a:ext cx="2495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Portabilidad y operación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PROMPTING Y FUNCIONAL</a:t>
            </a:r>
            <a:endParaRPr sz="1700"/>
          </a:p>
        </p:txBody>
      </p:sp>
      <p:sp>
        <p:nvSpPr>
          <p:cNvPr id="71" name="Google Shape;71;p5"/>
          <p:cNvSpPr/>
          <p:nvPr/>
        </p:nvSpPr>
        <p:spPr>
          <a:xfrm>
            <a:off x="609600" y="685800"/>
            <a:ext cx="103346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 calidad depende de saber cuándo no responder</a:t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09600" y="13144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Los prompts, los umbrales y la experiencia de usuario trabajan juntos para evitar respuestas inventadas.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1096625" y="304800"/>
            <a:ext cx="495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cxnSp>
        <p:nvCxnSpPr>
          <p:cNvPr id="74" name="Google Shape;74;p5"/>
          <p:cNvCxnSpPr/>
          <p:nvPr/>
        </p:nvCxnSpPr>
        <p:spPr>
          <a:xfrm>
            <a:off x="609600" y="18478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5"/>
          <p:cNvSpPr/>
          <p:nvPr/>
        </p:nvSpPr>
        <p:spPr>
          <a:xfrm>
            <a:off x="609600" y="2247900"/>
            <a:ext cx="5276850" cy="66675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00100" y="2419350"/>
            <a:ext cx="361950" cy="323850"/>
          </a:xfrm>
          <a:prstGeom prst="roundRect">
            <a:avLst>
              <a:gd fmla="val 50000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09600" y="3086100"/>
            <a:ext cx="5276850" cy="66675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1333500" y="3181275"/>
            <a:ext cx="4267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Responde  solo con la fuente del nivel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800100" y="3257550"/>
            <a:ext cx="361950" cy="323850"/>
          </a:xfrm>
          <a:prstGeom prst="roundRect">
            <a:avLst>
              <a:gd fmla="val 50000" name="adj"/>
            </a:avLst>
          </a:prstGeom>
          <a:solidFill>
            <a:srgbClr val="E7EEFF"/>
          </a:solidFill>
          <a:ln cap="flat" cmpd="sng" w="9525">
            <a:solidFill>
              <a:srgbClr val="E7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09600" y="3924300"/>
            <a:ext cx="5276850" cy="66675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333500" y="4068225"/>
            <a:ext cx="4267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 falta evidencia, activa el escalado</a:t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800100" y="4095750"/>
            <a:ext cx="361950" cy="323850"/>
          </a:xfrm>
          <a:prstGeom prst="roundRect">
            <a:avLst>
              <a:gd fmla="val 50000" name="adj"/>
            </a:avLst>
          </a:prstGeom>
          <a:solidFill>
            <a:srgbClr val="FFF0DA"/>
          </a:solidFill>
          <a:ln cap="flat" cmpd="sng" w="9525">
            <a:solidFill>
              <a:srgbClr val="FFF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09600" y="4762500"/>
            <a:ext cx="5276850" cy="66675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00100" y="4933950"/>
            <a:ext cx="361950" cy="323850"/>
          </a:xfrm>
          <a:prstGeom prst="roundRect">
            <a:avLst>
              <a:gd fmla="val 50000" name="adj"/>
            </a:avLst>
          </a:prstGeom>
          <a:solidFill>
            <a:srgbClr val="F4CCCC"/>
          </a:solidFill>
          <a:ln cap="flat" cmpd="sng" w="9525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408725" y="2190825"/>
            <a:ext cx="5676900" cy="4133700"/>
          </a:xfrm>
          <a:prstGeom prst="roundRect">
            <a:avLst>
              <a:gd fmla="val 4839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694475" y="2457525"/>
            <a:ext cx="1809600" cy="324000"/>
          </a:xfrm>
          <a:prstGeom prst="roundRect">
            <a:avLst>
              <a:gd fmla="val 50000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NUESTRA RESPUESTA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694475" y="2990925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soporte por niveles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694475" y="3676725"/>
            <a:ext cx="457200" cy="304800"/>
          </a:xfrm>
          <a:prstGeom prst="roundRect">
            <a:avLst>
              <a:gd fmla="val 50000" name="adj"/>
            </a:avLst>
          </a:prstGeom>
          <a:solidFill>
            <a:srgbClr val="0F766E"/>
          </a:solidFill>
          <a:ln cap="flat" cmpd="sng" w="95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N0</a:t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323125" y="3619575"/>
            <a:ext cx="3048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Conversación cordial</a:t>
            </a:r>
            <a:endParaRPr sz="1500"/>
          </a:p>
        </p:txBody>
      </p:sp>
      <p:sp>
        <p:nvSpPr>
          <p:cNvPr id="90" name="Google Shape;90;p5"/>
          <p:cNvSpPr/>
          <p:nvPr/>
        </p:nvSpPr>
        <p:spPr>
          <a:xfrm>
            <a:off x="6694475" y="4133925"/>
            <a:ext cx="457200" cy="3048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N1</a:t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323125" y="4076775"/>
            <a:ext cx="3048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Preguntas frecuentes</a:t>
            </a:r>
            <a:endParaRPr sz="1500"/>
          </a:p>
        </p:txBody>
      </p:sp>
      <p:sp>
        <p:nvSpPr>
          <p:cNvPr id="92" name="Google Shape;92;p5"/>
          <p:cNvSpPr/>
          <p:nvPr/>
        </p:nvSpPr>
        <p:spPr>
          <a:xfrm>
            <a:off x="6694475" y="4591125"/>
            <a:ext cx="457200" cy="304800"/>
          </a:xfrm>
          <a:prstGeom prst="roundRect">
            <a:avLst>
              <a:gd fmla="val 50000" name="adj"/>
            </a:avLst>
          </a:prstGeom>
          <a:solidFill>
            <a:srgbClr val="E8871E"/>
          </a:solidFill>
          <a:ln cap="flat" cmpd="sng" w="9525">
            <a:solidFill>
              <a:srgbClr val="E88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N2</a:t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7323125" y="4533975"/>
            <a:ext cx="3048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técnico</a:t>
            </a:r>
            <a:endParaRPr sz="1500"/>
          </a:p>
        </p:txBody>
      </p:sp>
      <p:sp>
        <p:nvSpPr>
          <p:cNvPr id="94" name="Google Shape;94;p5"/>
          <p:cNvSpPr/>
          <p:nvPr/>
        </p:nvSpPr>
        <p:spPr>
          <a:xfrm>
            <a:off x="6694475" y="5048325"/>
            <a:ext cx="457200" cy="3048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7323125" y="4991175"/>
            <a:ext cx="3048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Atención humana</a:t>
            </a:r>
            <a:endParaRPr sz="1500"/>
          </a:p>
        </p:txBody>
      </p:sp>
      <p:sp>
        <p:nvSpPr>
          <p:cNvPr id="96" name="Google Shape;96;p5"/>
          <p:cNvSpPr/>
          <p:nvPr/>
        </p:nvSpPr>
        <p:spPr>
          <a:xfrm>
            <a:off x="7877875" y="5734125"/>
            <a:ext cx="323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Solucionada / No solucionada</a:t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694475" y="5791277"/>
            <a:ext cx="1048800" cy="342900"/>
          </a:xfrm>
          <a:prstGeom prst="roundRect">
            <a:avLst>
              <a:gd fmla="val 50000" name="adj"/>
            </a:avLst>
          </a:prstGeom>
          <a:solidFill>
            <a:srgbClr val="D5A6B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333500" y="4860025"/>
            <a:ext cx="4267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Pide confirmación después de responder</a:t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1333500" y="2390700"/>
            <a:ext cx="4267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Amabilidad y redirigir al tema técnico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sz="1700"/>
          </a:p>
        </p:txBody>
      </p:sp>
      <p:sp>
        <p:nvSpPr>
          <p:cNvPr id="106" name="Google Shape;106;p4"/>
          <p:cNvSpPr/>
          <p:nvPr/>
        </p:nvSpPr>
        <p:spPr>
          <a:xfrm>
            <a:off x="609600" y="685800"/>
            <a:ext cx="103346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 stack separado por responsabilidades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09600" y="13144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interfaz conversa con una API; la API ejecuta el grafo y consulta modelos y conocimiento local.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1096625" y="304800"/>
            <a:ext cx="495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cxnSp>
        <p:nvCxnSpPr>
          <p:cNvPr id="109" name="Google Shape;109;p4"/>
          <p:cNvCxnSpPr/>
          <p:nvPr/>
        </p:nvCxnSpPr>
        <p:spPr>
          <a:xfrm>
            <a:off x="609600" y="18478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4"/>
          <p:cNvSpPr/>
          <p:nvPr/>
        </p:nvSpPr>
        <p:spPr>
          <a:xfrm>
            <a:off x="609600" y="2400300"/>
            <a:ext cx="2000250" cy="27813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819150" y="2609850"/>
            <a:ext cx="381000" cy="304800"/>
          </a:xfrm>
          <a:prstGeom prst="roundRect">
            <a:avLst>
              <a:gd fmla="val 50000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819150" y="3086100"/>
            <a:ext cx="1581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819150" y="3714750"/>
            <a:ext cx="1581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819150" y="4114800"/>
            <a:ext cx="15811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Chat, FAQ y detalle del recorrido.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781300" y="2400300"/>
            <a:ext cx="2000250" cy="27813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2990850" y="2609850"/>
            <a:ext cx="381000" cy="304800"/>
          </a:xfrm>
          <a:prstGeom prst="roundRect">
            <a:avLst>
              <a:gd fmla="val 50000" name="adj"/>
            </a:avLst>
          </a:prstGeom>
          <a:solidFill>
            <a:srgbClr val="E7EEFF"/>
          </a:solidFill>
          <a:ln cap="flat" cmpd="sng" w="9525">
            <a:solidFill>
              <a:srgbClr val="E7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2990850" y="3086100"/>
            <a:ext cx="1581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990850" y="3714750"/>
            <a:ext cx="1581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CONTRATO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2990850" y="4114800"/>
            <a:ext cx="15811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API desacoplada, salud y sesiones.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953000" y="2400300"/>
            <a:ext cx="2000250" cy="27813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162550" y="2609850"/>
            <a:ext cx="381000" cy="30480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 cap="flat" cmpd="sng" w="9525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162550" y="3086100"/>
            <a:ext cx="1581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LangGraph + RAG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162550" y="3714750"/>
            <a:ext cx="1581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ORQUESTACIÓN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5162550" y="4114800"/>
            <a:ext cx="15811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Nodos, estados y rutas condicionales.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7124700" y="2400300"/>
            <a:ext cx="2000250" cy="27813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334250" y="2609850"/>
            <a:ext cx="381000" cy="304800"/>
          </a:xfrm>
          <a:prstGeom prst="roundRect">
            <a:avLst>
              <a:gd fmla="val 50000" name="adj"/>
            </a:avLst>
          </a:prstGeom>
          <a:solidFill>
            <a:srgbClr val="FFF0DA"/>
          </a:solidFill>
          <a:ln cap="flat" cmpd="sng" w="9525">
            <a:solidFill>
              <a:srgbClr val="FFF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334250" y="3086100"/>
            <a:ext cx="1581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LangChain + Chroma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7334250" y="3714750"/>
            <a:ext cx="1581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334250" y="4114800"/>
            <a:ext cx="15811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Búsqueda separada para FAQ y manual.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296400" y="2400300"/>
            <a:ext cx="2286000" cy="27813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9505950" y="2609850"/>
            <a:ext cx="381000" cy="3048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9525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9505950" y="3086100"/>
            <a:ext cx="1866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Ollama + Docker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505950" y="3714750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505950" y="4114800"/>
            <a:ext cx="18669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Gemma 3 4B y despliegue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3429000" y="5467350"/>
            <a:ext cx="1162050" cy="342900"/>
          </a:xfrm>
          <a:prstGeom prst="roundRect">
            <a:avLst>
              <a:gd fmla="val 50000" name="adj"/>
            </a:avLst>
          </a:prstGeom>
          <a:solidFill>
            <a:srgbClr val="E7EEFF"/>
          </a:solidFill>
          <a:ln cap="flat" cmpd="sng" w="9525">
            <a:solidFill>
              <a:srgbClr val="E7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50 FAQ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743450" y="5467350"/>
            <a:ext cx="1619250" cy="342900"/>
          </a:xfrm>
          <a:prstGeom prst="roundRect">
            <a:avLst>
              <a:gd fmla="val 50000" name="adj"/>
            </a:avLst>
          </a:prstGeom>
          <a:solidFill>
            <a:srgbClr val="FFF0DA"/>
          </a:solidFill>
          <a:ln cap="flat" cmpd="sng" w="9525">
            <a:solidFill>
              <a:srgbClr val="FFF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Manual técnico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515100" y="5467350"/>
            <a:ext cx="1428750" cy="3429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9525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Modelo local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8096250" y="5467350"/>
            <a:ext cx="1752600" cy="342900"/>
          </a:xfrm>
          <a:prstGeom prst="roundRect">
            <a:avLst>
              <a:gd fmla="val 50000" name="adj"/>
            </a:avLst>
          </a:prstGeom>
          <a:solidFill>
            <a:srgbClr val="EEF2F7"/>
          </a:solidFill>
          <a:ln cap="flat" cmpd="sng" w="95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Servicios Cloud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GRAFO DE AGENTES</a:t>
            </a:r>
            <a:endParaRPr sz="1700"/>
          </a:p>
        </p:txBody>
      </p:sp>
      <p:sp>
        <p:nvSpPr>
          <p:cNvPr id="145" name="Google Shape;145;p6"/>
          <p:cNvSpPr/>
          <p:nvPr/>
        </p:nvSpPr>
        <p:spPr>
          <a:xfrm>
            <a:off x="609600" y="685800"/>
            <a:ext cx="103346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Cada nodo tiene una responsabilidad y una salida</a:t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09600" y="13144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LangGraph mantiene el estado de la consulta y decide el siguiente paso con rutas condicionales.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1096625" y="304800"/>
            <a:ext cx="495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cxnSp>
        <p:nvCxnSpPr>
          <p:cNvPr id="148" name="Google Shape;148;p6"/>
          <p:cNvCxnSpPr/>
          <p:nvPr/>
        </p:nvCxnSpPr>
        <p:spPr>
          <a:xfrm>
            <a:off x="609600" y="18478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6"/>
          <p:cNvSpPr/>
          <p:nvPr/>
        </p:nvSpPr>
        <p:spPr>
          <a:xfrm>
            <a:off x="609600" y="2628900"/>
            <a:ext cx="1143000" cy="590550"/>
          </a:xfrm>
          <a:prstGeom prst="roundRect">
            <a:avLst>
              <a:gd fmla="val 22581" name="adj"/>
            </a:avLst>
          </a:prstGeom>
          <a:solidFill>
            <a:srgbClr val="EEF2F7"/>
          </a:solidFill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2057400" y="2571750"/>
            <a:ext cx="1371600" cy="704850"/>
          </a:xfrm>
          <a:prstGeom prst="roundRect">
            <a:avLst>
              <a:gd fmla="val 18919" name="adj"/>
            </a:avLst>
          </a:prstGeom>
          <a:solidFill>
            <a:srgbClr val="DDF4F0"/>
          </a:solidFill>
          <a:ln cap="flat" cmpd="sng" w="1905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Clasificador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inicial</a:t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000500" y="2571750"/>
            <a:ext cx="1219200" cy="704850"/>
          </a:xfrm>
          <a:prstGeom prst="roundRect">
            <a:avLst>
              <a:gd fmla="val 18919" name="adj"/>
            </a:avLst>
          </a:prstGeom>
          <a:solidFill>
            <a:srgbClr val="E7EE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RAG N1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524500" y="2571750"/>
            <a:ext cx="1352550" cy="704850"/>
          </a:xfrm>
          <a:prstGeom prst="roundRect">
            <a:avLst>
              <a:gd fmla="val 18919" name="adj"/>
            </a:avLst>
          </a:prstGeom>
          <a:solidFill>
            <a:srgbClr val="E7EE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Soporte N1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7219950" y="2571750"/>
            <a:ext cx="1352550" cy="704850"/>
          </a:xfrm>
          <a:prstGeom prst="roundRect">
            <a:avLst>
              <a:gd fmla="val 18919" name="adj"/>
            </a:avLst>
          </a:prstGeom>
          <a:solidFill>
            <a:srgbClr val="FEF3C7"/>
          </a:solidFill>
          <a:ln cap="flat" cmpd="sng" w="19050">
            <a:solidFill>
              <a:srgbClr val="A162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A16207"/>
                </a:solidFill>
                <a:latin typeface="Calibri"/>
                <a:ea typeface="Calibri"/>
                <a:cs typeface="Calibri"/>
                <a:sym typeface="Calibri"/>
              </a:rPr>
              <a:t>¿Resuelto?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0668000" y="2571675"/>
            <a:ext cx="1200300" cy="705000"/>
          </a:xfrm>
          <a:prstGeom prst="roundRect">
            <a:avLst>
              <a:gd fmla="val 18919" name="adj"/>
            </a:avLst>
          </a:prstGeom>
          <a:solidFill>
            <a:srgbClr val="DCFCE7"/>
          </a:solidFill>
          <a:ln cap="flat" cmpd="sng" w="1905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2057400" y="4267200"/>
            <a:ext cx="1371600" cy="628650"/>
          </a:xfrm>
          <a:prstGeom prst="roundRect">
            <a:avLst>
              <a:gd fmla="val 21212" name="adj"/>
            </a:avLst>
          </a:prstGeom>
          <a:solidFill>
            <a:srgbClr val="DDF4F0"/>
          </a:solidFill>
          <a:ln cap="flat" cmpd="sng" w="1905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Recepción N0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000500" y="4267200"/>
            <a:ext cx="1219200" cy="628650"/>
          </a:xfrm>
          <a:prstGeom prst="roundRect">
            <a:avLst>
              <a:gd fmla="val 21212" name="adj"/>
            </a:avLst>
          </a:prstGeom>
          <a:solidFill>
            <a:srgbClr val="DCFCE7"/>
          </a:solidFill>
          <a:ln cap="flat" cmpd="sng" w="1905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524500" y="4267200"/>
            <a:ext cx="1352550" cy="628650"/>
          </a:xfrm>
          <a:prstGeom prst="roundRect">
            <a:avLst>
              <a:gd fmla="val 21212" name="adj"/>
            </a:avLst>
          </a:prstGeom>
          <a:solidFill>
            <a:srgbClr val="FFF0DA"/>
          </a:solidFill>
          <a:ln cap="flat" cmpd="sng" w="19050">
            <a:solidFill>
              <a:srgbClr val="E88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RAG N2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7219950" y="4267200"/>
            <a:ext cx="1352550" cy="628650"/>
          </a:xfrm>
          <a:prstGeom prst="roundRect">
            <a:avLst>
              <a:gd fmla="val 21212" name="adj"/>
            </a:avLst>
          </a:prstGeom>
          <a:solidFill>
            <a:srgbClr val="FFF0DA"/>
          </a:solidFill>
          <a:ln cap="flat" cmpd="sng" w="19050">
            <a:solidFill>
              <a:srgbClr val="E887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Soporte N2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915400" y="4267200"/>
            <a:ext cx="1352550" cy="628650"/>
          </a:xfrm>
          <a:prstGeom prst="roundRect">
            <a:avLst>
              <a:gd fmla="val 21212" name="adj"/>
            </a:avLst>
          </a:prstGeom>
          <a:solidFill>
            <a:srgbClr val="FEF3C7"/>
          </a:solidFill>
          <a:ln cap="flat" cmpd="sng" w="19050">
            <a:solidFill>
              <a:srgbClr val="A162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A16207"/>
                </a:solidFill>
                <a:latin typeface="Calibri"/>
                <a:ea typeface="Calibri"/>
                <a:cs typeface="Calibri"/>
                <a:sym typeface="Calibri"/>
              </a:rPr>
              <a:t>¿Resuelto?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10610850" y="4267125"/>
            <a:ext cx="1200300" cy="628800"/>
          </a:xfrm>
          <a:prstGeom prst="roundRect">
            <a:avLst>
              <a:gd fmla="val 21212" name="adj"/>
            </a:avLst>
          </a:prstGeom>
          <a:solidFill>
            <a:srgbClr val="EDE9FE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Humano</a:t>
            </a:r>
            <a:endParaRPr/>
          </a:p>
        </p:txBody>
      </p:sp>
      <p:cxnSp>
        <p:nvCxnSpPr>
          <p:cNvPr id="161" name="Google Shape;161;p6"/>
          <p:cNvCxnSpPr>
            <a:stCxn id="149" idx="3"/>
            <a:endCxn id="150" idx="1"/>
          </p:cNvCxnSpPr>
          <p:nvPr/>
        </p:nvCxnSpPr>
        <p:spPr>
          <a:xfrm>
            <a:off x="1752600" y="29241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62" name="Google Shape;162;p6"/>
          <p:cNvCxnSpPr>
            <a:stCxn id="150" idx="3"/>
            <a:endCxn id="151" idx="1"/>
          </p:cNvCxnSpPr>
          <p:nvPr/>
        </p:nvCxnSpPr>
        <p:spPr>
          <a:xfrm>
            <a:off x="3429000" y="2924175"/>
            <a:ext cx="5715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63" name="Google Shape;163;p6"/>
          <p:cNvCxnSpPr>
            <a:stCxn id="151" idx="3"/>
            <a:endCxn id="152" idx="1"/>
          </p:cNvCxnSpPr>
          <p:nvPr/>
        </p:nvCxnSpPr>
        <p:spPr>
          <a:xfrm>
            <a:off x="5219700" y="29241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64" name="Google Shape;164;p6"/>
          <p:cNvCxnSpPr>
            <a:stCxn id="152" idx="3"/>
            <a:endCxn id="153" idx="1"/>
          </p:cNvCxnSpPr>
          <p:nvPr/>
        </p:nvCxnSpPr>
        <p:spPr>
          <a:xfrm>
            <a:off x="6877050" y="2924175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65" name="Google Shape;165;p6"/>
          <p:cNvCxnSpPr>
            <a:stCxn id="153" idx="3"/>
            <a:endCxn id="154" idx="1"/>
          </p:cNvCxnSpPr>
          <p:nvPr/>
        </p:nvCxnSpPr>
        <p:spPr>
          <a:xfrm>
            <a:off x="8572500" y="2924175"/>
            <a:ext cx="20955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66" name="Google Shape;166;p6"/>
          <p:cNvCxnSpPr>
            <a:stCxn id="150" idx="2"/>
            <a:endCxn id="155" idx="0"/>
          </p:cNvCxnSpPr>
          <p:nvPr/>
        </p:nvCxnSpPr>
        <p:spPr>
          <a:xfrm>
            <a:off x="2743200" y="3276600"/>
            <a:ext cx="0" cy="99060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67" name="Google Shape;167;p6"/>
          <p:cNvCxnSpPr>
            <a:stCxn id="155" idx="3"/>
            <a:endCxn id="156" idx="1"/>
          </p:cNvCxnSpPr>
          <p:nvPr/>
        </p:nvCxnSpPr>
        <p:spPr>
          <a:xfrm>
            <a:off x="3429000" y="4581525"/>
            <a:ext cx="5715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68" name="Google Shape;168;p6"/>
          <p:cNvCxnSpPr>
            <a:stCxn id="153" idx="2"/>
            <a:endCxn id="157" idx="0"/>
          </p:cNvCxnSpPr>
          <p:nvPr/>
        </p:nvCxnSpPr>
        <p:spPr>
          <a:xfrm rot="5400000">
            <a:off x="6553275" y="2924250"/>
            <a:ext cx="990600" cy="1695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69" name="Google Shape;169;p6"/>
          <p:cNvCxnSpPr>
            <a:stCxn id="157" idx="3"/>
            <a:endCxn id="158" idx="1"/>
          </p:cNvCxnSpPr>
          <p:nvPr/>
        </p:nvCxnSpPr>
        <p:spPr>
          <a:xfrm>
            <a:off x="6877050" y="4581525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70" name="Google Shape;170;p6"/>
          <p:cNvCxnSpPr>
            <a:stCxn id="158" idx="3"/>
            <a:endCxn id="159" idx="1"/>
          </p:cNvCxnSpPr>
          <p:nvPr/>
        </p:nvCxnSpPr>
        <p:spPr>
          <a:xfrm>
            <a:off x="8572500" y="4581525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171" name="Google Shape;171;p6"/>
          <p:cNvCxnSpPr>
            <a:stCxn id="159" idx="3"/>
            <a:endCxn id="160" idx="1"/>
          </p:cNvCxnSpPr>
          <p:nvPr/>
        </p:nvCxnSpPr>
        <p:spPr>
          <a:xfrm>
            <a:off x="10267950" y="4581525"/>
            <a:ext cx="342900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72" name="Google Shape;172;p6"/>
          <p:cNvSpPr/>
          <p:nvPr/>
        </p:nvSpPr>
        <p:spPr>
          <a:xfrm>
            <a:off x="3486150" y="2171700"/>
            <a:ext cx="1333500" cy="285750"/>
          </a:xfrm>
          <a:prstGeom prst="roundRect">
            <a:avLst>
              <a:gd fmla="val 50000" name="adj"/>
            </a:avLst>
          </a:prstGeom>
          <a:solidFill>
            <a:srgbClr val="EEF2F7"/>
          </a:solidFill>
          <a:ln cap="flat" cmpd="sng" w="9525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consulta router</a:t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1885950" y="5086350"/>
            <a:ext cx="1752600" cy="285750"/>
          </a:xfrm>
          <a:prstGeom prst="roundRect">
            <a:avLst>
              <a:gd fmla="val 50000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saludo / fuera de tema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334250" y="3543300"/>
            <a:ext cx="495300" cy="266700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9296400" y="2628900"/>
            <a:ext cx="457200" cy="2667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9525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sí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10210800" y="4819650"/>
            <a:ext cx="457200" cy="266700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9210675" y="3917825"/>
            <a:ext cx="819300" cy="266700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 cap="flat" cmpd="sng" w="9525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rPr>
              <a:t>sí: FIN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RIESGOS DEL PROYECTO</a:t>
            </a:r>
            <a:endParaRPr b="1" sz="1700"/>
          </a:p>
        </p:txBody>
      </p:sp>
      <p:sp>
        <p:nvSpPr>
          <p:cNvPr id="184" name="Google Shape;184;p8"/>
          <p:cNvSpPr/>
          <p:nvPr/>
        </p:nvSpPr>
        <p:spPr>
          <a:xfrm>
            <a:off x="609600" y="685800"/>
            <a:ext cx="103346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Los problemas reales definieron el producto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09600" y="13144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riesgo se convirtió en una regla técnica o funcional comprobable.</a:t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1096625" y="304800"/>
            <a:ext cx="495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cxnSp>
        <p:nvCxnSpPr>
          <p:cNvPr id="187" name="Google Shape;187;p8"/>
          <p:cNvCxnSpPr/>
          <p:nvPr/>
        </p:nvCxnSpPr>
        <p:spPr>
          <a:xfrm>
            <a:off x="609600" y="18478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8"/>
          <p:cNvSpPr/>
          <p:nvPr/>
        </p:nvSpPr>
        <p:spPr>
          <a:xfrm>
            <a:off x="609600" y="2190750"/>
            <a:ext cx="5391150" cy="15621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838200" y="2400300"/>
            <a:ext cx="876300" cy="285750"/>
          </a:xfrm>
          <a:prstGeom prst="roundRect">
            <a:avLst>
              <a:gd fmla="val 50000" name="adj"/>
            </a:avLst>
          </a:prstGeom>
          <a:solidFill>
            <a:srgbClr val="FEE2E2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Gracia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866900" y="2324100"/>
            <a:ext cx="3790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Alucinaciones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838200" y="2838450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 modelo podía completar información ausente.</a:t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38200" y="3219450"/>
            <a:ext cx="4914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Prompt estricto, umbral y escalado explícito.</a:t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191250" y="2190750"/>
            <a:ext cx="5391150" cy="15621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419850" y="2400300"/>
            <a:ext cx="876300" cy="285750"/>
          </a:xfrm>
          <a:prstGeom prst="roundRect">
            <a:avLst>
              <a:gd fmla="val 50000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Juan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448550" y="2324100"/>
            <a:ext cx="3790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RAG con un simple «hola»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419850" y="2838450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Saludos y temas ajenos activaban la búsqueda.</a:t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419850" y="3219450"/>
            <a:ext cx="4914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Nivel 0 y clasificador de intención.</a:t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09600" y="4095750"/>
            <a:ext cx="5391150" cy="15621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838200" y="4305300"/>
            <a:ext cx="876300" cy="285750"/>
          </a:xfrm>
          <a:prstGeom prst="roundRect">
            <a:avLst>
              <a:gd fmla="val 50000" name="adj"/>
            </a:avLst>
          </a:prstGeom>
          <a:solidFill>
            <a:srgbClr val="FFF0DA"/>
          </a:solidFill>
          <a:ln cap="flat" cmpd="sng" w="9525">
            <a:solidFill>
              <a:srgbClr val="FFF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Jesús</a:t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866900" y="4229100"/>
            <a:ext cx="3790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Portabilidad</a:t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838200" y="4743450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Rutas, modelos y dependencias variaban por equipo.</a:t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838200" y="5124450"/>
            <a:ext cx="4914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PDFs internos, variables y Docker Compose.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191250" y="4095750"/>
            <a:ext cx="5391150" cy="156210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6419850" y="4305300"/>
            <a:ext cx="876300" cy="285750"/>
          </a:xfrm>
          <a:prstGeom prst="roundRect">
            <a:avLst>
              <a:gd fmla="val 50000" name="adj"/>
            </a:avLst>
          </a:prstGeom>
          <a:solidFill>
            <a:srgbClr val="E7EEFF"/>
          </a:solidFill>
          <a:ln cap="flat" cmpd="sng" w="9525">
            <a:solidFill>
              <a:srgbClr val="E7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7448550" y="4229100"/>
            <a:ext cx="3790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Interfaz demasiado técnica</a:t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419850" y="4743450"/>
            <a:ext cx="4914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mostraban fuentes, marcas y detalles internos.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6419850" y="5124450"/>
            <a:ext cx="4914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Sanitización y recorrido discreto para el cliente.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 sz="1700"/>
          </a:p>
        </p:txBody>
      </p:sp>
      <p:sp>
        <p:nvSpPr>
          <p:cNvPr id="214" name="Google Shape;214;p9"/>
          <p:cNvSpPr/>
          <p:nvPr/>
        </p:nvSpPr>
        <p:spPr>
          <a:xfrm>
            <a:off x="609600" y="685800"/>
            <a:ext cx="103346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Cuatro mensajes para demostrar todo el recorrido</a:t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609600" y="13144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demo está diseñada para enseñar comportamiento, no solo una respuesta aislada.</a:t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11096625" y="304800"/>
            <a:ext cx="495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cxnSp>
        <p:nvCxnSpPr>
          <p:cNvPr id="217" name="Google Shape;217;p9"/>
          <p:cNvCxnSpPr/>
          <p:nvPr/>
        </p:nvCxnSpPr>
        <p:spPr>
          <a:xfrm>
            <a:off x="609600" y="18478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9"/>
          <p:cNvSpPr/>
          <p:nvPr/>
        </p:nvSpPr>
        <p:spPr>
          <a:xfrm>
            <a:off x="609600" y="2266950"/>
            <a:ext cx="2514600" cy="333375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819150" y="2476500"/>
            <a:ext cx="876300" cy="285750"/>
          </a:xfrm>
          <a:prstGeom prst="roundRect">
            <a:avLst>
              <a:gd fmla="val 50000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Gracia</a:t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819150" y="2952750"/>
            <a:ext cx="2095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 · Recepción</a:t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819150" y="3581400"/>
            <a:ext cx="2095500" cy="819150"/>
          </a:xfrm>
          <a:prstGeom prst="roundRect">
            <a:avLst>
              <a:gd fmla="val 13953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952500" y="3657600"/>
            <a:ext cx="1828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«Hola»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819150" y="4572000"/>
            <a:ext cx="209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N0 responde con cordialidad. No se activa el RAG.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133725" y="3714750"/>
            <a:ext cx="228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DCE3E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3352800" y="2266950"/>
            <a:ext cx="2514600" cy="333375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3562350" y="2476500"/>
            <a:ext cx="876300" cy="285750"/>
          </a:xfrm>
          <a:prstGeom prst="roundRect">
            <a:avLst>
              <a:gd fmla="val 50000" name="adj"/>
            </a:avLst>
          </a:prstGeom>
          <a:solidFill>
            <a:srgbClr val="E7EEFF"/>
          </a:solidFill>
          <a:ln cap="flat" cmpd="sng" w="9525">
            <a:solidFill>
              <a:srgbClr val="E7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Gracia</a:t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562350" y="2952750"/>
            <a:ext cx="2095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 · FAQ</a:t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3562350" y="3581400"/>
            <a:ext cx="2095500" cy="819150"/>
          </a:xfrm>
          <a:prstGeom prst="roundRect">
            <a:avLst>
              <a:gd fmla="val 13953" name="adj"/>
            </a:avLst>
          </a:prstGeom>
          <a:solidFill>
            <a:srgbClr val="E7EEFF"/>
          </a:solidFill>
          <a:ln cap="flat" cmpd="sng" w="9525">
            <a:solidFill>
              <a:srgbClr val="E7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695700" y="3657600"/>
            <a:ext cx="1828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«¿Puedo conectarme por QR?»</a:t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562350" y="4572000"/>
            <a:ext cx="209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N1 responde desde las preguntas frecuentes.</a:t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876925" y="3714750"/>
            <a:ext cx="228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DCE3E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096000" y="2266950"/>
            <a:ext cx="2514600" cy="333375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6305550" y="2476500"/>
            <a:ext cx="876300" cy="285750"/>
          </a:xfrm>
          <a:prstGeom prst="roundRect">
            <a:avLst>
              <a:gd fmla="val 50000" name="adj"/>
            </a:avLst>
          </a:prstGeom>
          <a:solidFill>
            <a:srgbClr val="FFF0DA"/>
          </a:solidFill>
          <a:ln cap="flat" cmpd="sng" w="9525">
            <a:solidFill>
              <a:srgbClr val="FFF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Juan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305550" y="2952750"/>
            <a:ext cx="2095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 · Técnica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305550" y="3581400"/>
            <a:ext cx="2095500" cy="819150"/>
          </a:xfrm>
          <a:prstGeom prst="roundRect">
            <a:avLst>
              <a:gd fmla="val 13953" name="adj"/>
            </a:avLst>
          </a:prstGeom>
          <a:solidFill>
            <a:srgbClr val="FFF0DA"/>
          </a:solidFill>
          <a:ln cap="flat" cmpd="sng" w="9525">
            <a:solidFill>
              <a:srgbClr val="FFF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438900" y="3657600"/>
            <a:ext cx="1828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«¿Cómo configuro DHCP?»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6305550" y="4572000"/>
            <a:ext cx="209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consulta baja a N2 y usa el manual.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8620125" y="3714750"/>
            <a:ext cx="228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DCE3E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8839200" y="2266950"/>
            <a:ext cx="2514600" cy="333375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9048750" y="2476500"/>
            <a:ext cx="876300" cy="28575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 cap="flat" cmpd="sng" w="9525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Jesús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9048750" y="2952750"/>
            <a:ext cx="2095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 · Escalado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9048750" y="3581400"/>
            <a:ext cx="2095500" cy="819150"/>
          </a:xfrm>
          <a:prstGeom prst="roundRect">
            <a:avLst>
              <a:gd fmla="val 13953" name="adj"/>
            </a:avLst>
          </a:prstGeom>
          <a:solidFill>
            <a:srgbClr val="EDE9FE"/>
          </a:solidFill>
          <a:ln cap="flat" cmpd="sng" w="9525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9182100" y="3657600"/>
            <a:ext cx="18288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Pregunta sin evidencia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9048750" y="4572000"/>
            <a:ext cx="20955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N2 no inventa y muestra el contacto humano.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095750" y="5848350"/>
            <a:ext cx="4000500" cy="361950"/>
          </a:xfrm>
          <a:prstGeom prst="roundRect">
            <a:avLst>
              <a:gd fmla="val 47368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Click para lanzar DEMO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609600" y="32385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sz="1700"/>
          </a:p>
        </p:txBody>
      </p:sp>
      <p:sp>
        <p:nvSpPr>
          <p:cNvPr id="252" name="Google Shape;252;p10"/>
          <p:cNvSpPr/>
          <p:nvPr/>
        </p:nvSpPr>
        <p:spPr>
          <a:xfrm>
            <a:off x="609600" y="685800"/>
            <a:ext cx="103346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Qué demostramos</a:t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609600" y="13144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asistente útil no es el que responde a todo, sino el que usa bien sus límites.</a:t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1096625" y="304800"/>
            <a:ext cx="495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255" name="Google Shape;255;p10"/>
          <p:cNvCxnSpPr/>
          <p:nvPr/>
        </p:nvCxnSpPr>
        <p:spPr>
          <a:xfrm>
            <a:off x="609600" y="1847850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0"/>
          <p:cNvSpPr/>
          <p:nvPr/>
        </p:nvSpPr>
        <p:spPr>
          <a:xfrm>
            <a:off x="609600" y="2381250"/>
            <a:ext cx="3276600" cy="257175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857250" y="2628900"/>
            <a:ext cx="438150" cy="361950"/>
          </a:xfrm>
          <a:prstGeom prst="roundRect">
            <a:avLst>
              <a:gd fmla="val 47368" name="adj"/>
            </a:avLst>
          </a:prstGeom>
          <a:solidFill>
            <a:srgbClr val="DDF4F0"/>
          </a:solidFill>
          <a:ln cap="flat" cmpd="sng" w="9525">
            <a:solidFill>
              <a:srgbClr val="DD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857250" y="3200400"/>
            <a:ext cx="2781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Experiencia clara</a:t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857250" y="3943350"/>
            <a:ext cx="27813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 cliente ve una conversación sencilla y opciones de resolución.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305300" y="2381250"/>
            <a:ext cx="3276600" cy="257175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4552950" y="2628900"/>
            <a:ext cx="438150" cy="361950"/>
          </a:xfrm>
          <a:prstGeom prst="roundRect">
            <a:avLst>
              <a:gd fmla="val 47368" name="adj"/>
            </a:avLst>
          </a:prstGeom>
          <a:solidFill>
            <a:srgbClr val="E7EEFF"/>
          </a:solidFill>
          <a:ln cap="flat" cmpd="sng" w="9525">
            <a:solidFill>
              <a:srgbClr val="E7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552950" y="3200400"/>
            <a:ext cx="2781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Arquitectura controlable</a:t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552950" y="3943350"/>
            <a:ext cx="27813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nivel, fuente y ruta de escalado está representada en el grafo.</a:t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8001000" y="2381250"/>
            <a:ext cx="3276600" cy="257175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8248650" y="2628900"/>
            <a:ext cx="438150" cy="361950"/>
          </a:xfrm>
          <a:prstGeom prst="roundRect">
            <a:avLst>
              <a:gd fmla="val 47368" name="adj"/>
            </a:avLst>
          </a:prstGeom>
          <a:solidFill>
            <a:srgbClr val="FFF0DA"/>
          </a:solidFill>
          <a:ln cap="flat" cmpd="sng" w="9525">
            <a:solidFill>
              <a:srgbClr val="FFF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8248650" y="3200400"/>
            <a:ext cx="2781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Entrega reproducible</a:t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8248650" y="3943350"/>
            <a:ext cx="278130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 en local y puede integrarse en un Compose compartido.</a:t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2476500" y="5372100"/>
            <a:ext cx="7239000" cy="666900"/>
          </a:xfrm>
          <a:prstGeom prst="roundRect">
            <a:avLst>
              <a:gd fmla="val 22857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3905250" y="5467350"/>
            <a:ext cx="438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Ruegos y p</a:t>
            </a:r>
            <a:r>
              <a:rPr b="1" lang="en-US" sz="2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reguntas</a:t>
            </a:r>
            <a:endParaRPr/>
          </a:p>
        </p:txBody>
      </p:sp>
      <p:pic>
        <p:nvPicPr>
          <p:cNvPr id="270" name="Google Shape;2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1000" y="0"/>
            <a:ext cx="3276600" cy="21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